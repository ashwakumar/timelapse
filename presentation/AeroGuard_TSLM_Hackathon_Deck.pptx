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5"/>
  </p:normalViewPr>
  <p:slideViewPr>
    <p:cSldViewPr snapToGrid="0" snapToObjects="1">
      <p:cViewPr varScale="1">
        <p:scale>
          <a:sx n="119" d="100"/>
          <a:sy n="119" d="100"/>
        </p:scale>
        <p:origin x="50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21207" y="562356"/>
            <a:ext cx="82296" cy="8229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512064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120">
                <a:solidFill>
                  <a:srgbClr val="8B95A3"/>
                </a:solidFill>
                <a:latin typeface="Calibri"/>
              </a:rPr>
              <a:t>  EHL HACKATHON ZURICH 2026 — TEMPORAL AI CHALLENGE</a:t>
            </a:r>
            <a:r>
              <a:rPr sz="1150" b="0" i="0">
                <a:solidFill>
                  <a:srgbClr val="5B6472"/>
                </a:solidFill>
                <a:latin typeface="Calibri"/>
              </a:rPr>
              <a:t>   ·   </a:t>
            </a:r>
            <a:r>
              <a:rPr sz="1150" b="1" i="0" spc="120">
                <a:solidFill>
                  <a:srgbClr val="9F7AEA"/>
                </a:solidFill>
                <a:latin typeface="Calibri"/>
              </a:rPr>
              <a:t>AIONIC LABS × ETH AGENTIC SYSTEMS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5156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200" b="1" i="0" dirty="0" err="1">
                <a:solidFill>
                  <a:srgbClr val="EAF0F6"/>
                </a:solidFill>
                <a:latin typeface="Arial"/>
              </a:rPr>
              <a:t>AeroGuard</a:t>
            </a:r>
            <a:r>
              <a:rPr sz="5200" b="1" i="0" dirty="0">
                <a:solidFill>
                  <a:srgbClr val="EAF0F6"/>
                </a:solidFill>
                <a:latin typeface="Arial"/>
              </a:rPr>
              <a:t> TSLM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755648"/>
            <a:ext cx="10279471" cy="2761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 dirty="0">
                <a:solidFill>
                  <a:srgbClr val="8B95A3"/>
                </a:solidFill>
                <a:latin typeface="Calibri"/>
              </a:rPr>
              <a:t>A multimodal time-series language model that gives turbofan engines a sense of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2438322"/>
            <a:ext cx="10515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chemeClr val="bg1"/>
                </a:solidFill>
                <a:latin typeface="Calibri"/>
              </a:rPr>
              <a:t>Team TimeLapse</a:t>
            </a:r>
            <a:r>
              <a:rPr sz="1400" b="0" i="0">
                <a:solidFill>
                  <a:schemeClr val="bg1"/>
                </a:solidFill>
                <a:latin typeface="Calibri"/>
              </a:rPr>
              <a:t>  —  Ashwani Kumar · Siddhant Tilekar · Vid Tominec · Marlene Moerig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7" y="2907792"/>
            <a:ext cx="3545738" cy="2331720"/>
          </a:xfrm>
          <a:prstGeom prst="roundRect">
            <a:avLst>
              <a:gd name="adj" fmla="val 6000"/>
            </a:avLst>
          </a:prstGeom>
          <a:solidFill>
            <a:srgbClr val="10141B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21207" y="2907792"/>
            <a:ext cx="3545738" cy="4572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3145536"/>
            <a:ext cx="303367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100">
                <a:solidFill>
                  <a:srgbClr val="5B6472"/>
                </a:solidFill>
                <a:latin typeface="Calibri"/>
              </a:rPr>
              <a:t>THE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56432"/>
            <a:ext cx="303367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B923C"/>
                </a:solidFill>
                <a:latin typeface="Arial"/>
              </a:rPr>
              <a:t>$150K+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023360"/>
            <a:ext cx="303367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8B95A3"/>
                </a:solidFill>
                <a:latin typeface="Calibri"/>
              </a:rPr>
              <a:t>per unscheduled engine removal (AOG) — delays, passenger accommodation, emergency charters.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2978" y="2907792"/>
            <a:ext cx="3545738" cy="2331720"/>
          </a:xfrm>
          <a:prstGeom prst="roundRect">
            <a:avLst>
              <a:gd name="adj" fmla="val 6000"/>
            </a:avLst>
          </a:prstGeom>
          <a:solidFill>
            <a:srgbClr val="10141B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22978" y="2907792"/>
            <a:ext cx="3545738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9010" y="3145536"/>
            <a:ext cx="303367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100">
                <a:solidFill>
                  <a:srgbClr val="5B6472"/>
                </a:solidFill>
                <a:latin typeface="Calibri"/>
              </a:rPr>
              <a:t>LEGACY APPROACH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9010" y="3456432"/>
            <a:ext cx="303367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dirty="0">
                <a:solidFill>
                  <a:srgbClr val="22D3EE"/>
                </a:solidFill>
                <a:latin typeface="Arial"/>
              </a:rPr>
              <a:t>Fixed cycles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9010" y="4023360"/>
            <a:ext cx="303367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8B95A3"/>
                </a:solidFill>
                <a:latin typeface="Calibri"/>
              </a:rPr>
              <a:t>Calendar-based overhauls retire healthy parts early — or miss rapid wear from aggressive climb profiles.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4748" y="2907792"/>
            <a:ext cx="3545738" cy="2331720"/>
          </a:xfrm>
          <a:prstGeom prst="roundRect">
            <a:avLst>
              <a:gd name="adj" fmla="val 6000"/>
            </a:avLst>
          </a:prstGeom>
          <a:solidFill>
            <a:srgbClr val="10141B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24748" y="2907792"/>
            <a:ext cx="3545738" cy="45720"/>
          </a:xfrm>
          <a:prstGeom prst="rect">
            <a:avLst/>
          </a:prstGeom>
          <a:solidFill>
            <a:srgbClr val="9F7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80780" y="3145536"/>
            <a:ext cx="303367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100">
                <a:solidFill>
                  <a:srgbClr val="5B6472"/>
                </a:solidFill>
                <a:latin typeface="Calibri"/>
              </a:rPr>
              <a:t>PURE FORECASTING MODELS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0780" y="3456432"/>
            <a:ext cx="3033674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700" b="1" i="0" dirty="0">
                <a:solidFill>
                  <a:srgbClr val="9F7AEA"/>
                </a:solidFill>
                <a:latin typeface="Arial"/>
              </a:rPr>
              <a:t>Chronos</a:t>
            </a:r>
            <a:endParaRPr sz="2700" b="1" i="0" dirty="0">
              <a:solidFill>
                <a:srgbClr val="9F7AEA"/>
              </a:solidFill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380780" y="4023360"/>
            <a:ext cx="303367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8B95A3"/>
                </a:solidFill>
                <a:latin typeface="Calibri"/>
              </a:rPr>
              <a:t>Univariate tokenization (Chronos) is blind to coupled aerothermal drift — and gives zero explanation.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207" y="5477256"/>
            <a:ext cx="11149279" cy="713232"/>
          </a:xfrm>
          <a:prstGeom prst="roundRect">
            <a:avLst>
              <a:gd name="adj" fmla="val 6000"/>
            </a:avLst>
          </a:prstGeom>
          <a:solidFill>
            <a:srgbClr val="141A22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5477256"/>
            <a:ext cx="18288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100">
                <a:solidFill>
                  <a:srgbClr val="FB923C"/>
                </a:solidFill>
                <a:latin typeface="Calibri"/>
              </a:rPr>
              <a:t>TARGET USER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7480" y="5477256"/>
            <a:ext cx="8680399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EAF0F6"/>
                </a:solidFill>
                <a:latin typeface="Calibri"/>
              </a:rPr>
              <a:t>Aerospace Fleet Reliability Engineer &amp; MRO Manager</a:t>
            </a:r>
            <a:r>
              <a:rPr sz="1300" b="0" i="0">
                <a:solidFill>
                  <a:srgbClr val="8B95A3"/>
                </a:solidFill>
                <a:latin typeface="Calibri"/>
              </a:rPr>
              <a:t>  —  needs an RUL number they can act on, and a reason they can trust.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21207" y="6510528"/>
            <a:ext cx="11149280" cy="0"/>
          </a:xfrm>
          <a:prstGeom prst="line">
            <a:avLst/>
          </a:prstGeom>
          <a:ln w="9525">
            <a:solidFill>
              <a:srgbClr val="232A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21207" y="656539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 spc="80">
                <a:solidFill>
                  <a:srgbClr val="5B6472"/>
                </a:solidFill>
                <a:latin typeface="Calibri"/>
              </a:rPr>
              <a:t>AEROGUARD TSLM  ·  TEAM TIMELAPSE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2887" y="656539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 spc="80">
                <a:solidFill>
                  <a:srgbClr val="8B95A3"/>
                </a:solidFill>
                <a:latin typeface="Calibri"/>
              </a:rPr>
              <a:t>01 / 04 — PROBLEM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21207" y="562356"/>
            <a:ext cx="82296" cy="8229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512064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120">
                <a:solidFill>
                  <a:srgbClr val="8B95A3"/>
                </a:solidFill>
                <a:latin typeface="Calibri"/>
              </a:rPr>
              <a:t> 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41248"/>
            <a:ext cx="11570388" cy="5846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800" b="1" i="0" dirty="0">
                <a:solidFill>
                  <a:srgbClr val="EAF0F6"/>
                </a:solidFill>
                <a:latin typeface="Arial"/>
              </a:rPr>
              <a:t>From raw engine data to a plain-English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572768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8B95A3"/>
                </a:solidFill>
                <a:latin typeface="Calibri"/>
              </a:rPr>
              <a:t>No engineering degree required to read the output — the AI does the interpreting.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7" y="2148840"/>
            <a:ext cx="3582314" cy="1920240"/>
          </a:xfrm>
          <a:prstGeom prst="roundRect">
            <a:avLst>
              <a:gd name="adj" fmla="val 6000"/>
            </a:avLst>
          </a:prstGeom>
          <a:solidFill>
            <a:srgbClr val="10141B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58952" y="2386584"/>
            <a:ext cx="457200" cy="4572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238658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0A0D12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990088"/>
            <a:ext cx="310682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EAF0F6"/>
                </a:solidFill>
                <a:latin typeface="Arial"/>
              </a:rPr>
              <a:t>Listen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355848"/>
            <a:ext cx="310682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8B95A3"/>
                </a:solidFill>
                <a:latin typeface="Calibri"/>
              </a:rPr>
              <a:t>Sensors on the engine record temperature, pressure and speed throughout every flight.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4690" y="2148840"/>
            <a:ext cx="3582314" cy="1920240"/>
          </a:xfrm>
          <a:prstGeom prst="roundRect">
            <a:avLst>
              <a:gd name="adj" fmla="val 6000"/>
            </a:avLst>
          </a:prstGeom>
          <a:solidFill>
            <a:srgbClr val="10141B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42434" y="2386584"/>
            <a:ext cx="457200" cy="457200"/>
          </a:xfrm>
          <a:prstGeom prst="ellipse">
            <a:avLst/>
          </a:prstGeom>
          <a:solidFill>
            <a:srgbClr val="9F7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2434" y="238658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0A0D12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2434" y="2990088"/>
            <a:ext cx="310682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EAF0F6"/>
                </a:solidFill>
                <a:latin typeface="Arial"/>
              </a:rPr>
              <a:t>Learn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2434" y="3355848"/>
            <a:ext cx="310682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8B95A3"/>
                </a:solidFill>
                <a:latin typeface="Calibri"/>
              </a:rPr>
              <a:t>The AI studies 100 real jet engines, watched from healthy takeoff all the way to eventual failure.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8172" y="2148840"/>
            <a:ext cx="3582314" cy="1920240"/>
          </a:xfrm>
          <a:prstGeom prst="roundRect">
            <a:avLst>
              <a:gd name="adj" fmla="val 6000"/>
            </a:avLst>
          </a:prstGeom>
          <a:solidFill>
            <a:srgbClr val="10141B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325916" y="2386584"/>
            <a:ext cx="457200" cy="457200"/>
          </a:xfrm>
          <a:prstGeom prst="ellipse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5916" y="238658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0A0D12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5916" y="2990088"/>
            <a:ext cx="310682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EAF0F6"/>
                </a:solidFill>
                <a:latin typeface="Arial"/>
              </a:rPr>
              <a:t>Answer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5916" y="3355848"/>
            <a:ext cx="310682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8B95A3"/>
                </a:solidFill>
                <a:latin typeface="Calibri"/>
              </a:rPr>
              <a:t>For any engine, it reports how many flights are left — and explains why, in plain words.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1207" y="4288536"/>
            <a:ext cx="5474055" cy="2002535"/>
          </a:xfrm>
          <a:prstGeom prst="roundRect">
            <a:avLst>
              <a:gd name="adj" fmla="val 6000"/>
            </a:avLst>
          </a:prstGeom>
          <a:solidFill>
            <a:srgbClr val="141A22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4453128"/>
            <a:ext cx="49619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80">
                <a:solidFill>
                  <a:srgbClr val="5B6472"/>
                </a:solidFill>
                <a:latin typeface="Calibri"/>
              </a:rPr>
              <a:t>WHAT YOU GET — THE NUMBER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745736"/>
            <a:ext cx="4961991" cy="117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1">
                <a:solidFill>
                  <a:srgbClr val="22D3EE"/>
                </a:solidFill>
                <a:latin typeface="Arial"/>
              </a:rPr>
              <a:t>“About 42 flights left”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998464"/>
            <a:ext cx="496199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1">
                <a:solidFill>
                  <a:srgbClr val="5B6472"/>
                </a:solidFill>
                <a:latin typeface="Calibri"/>
              </a:rPr>
              <a:t>Example answer — illustrative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6431" y="4288536"/>
            <a:ext cx="5474055" cy="2002535"/>
          </a:xfrm>
          <a:prstGeom prst="roundRect">
            <a:avLst>
              <a:gd name="adj" fmla="val 6000"/>
            </a:avLst>
          </a:prstGeom>
          <a:solidFill>
            <a:srgbClr val="141A22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52463" y="4453128"/>
            <a:ext cx="49619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80">
                <a:solidFill>
                  <a:srgbClr val="5B6472"/>
                </a:solidFill>
                <a:latin typeface="Calibri"/>
              </a:rPr>
              <a:t>WHAT YOU GET — THE REASON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2463" y="4745736"/>
            <a:ext cx="4961991" cy="117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1">
                <a:solidFill>
                  <a:srgbClr val="FB923C"/>
                </a:solidFill>
                <a:latin typeface="Arial"/>
              </a:rPr>
              <a:t>“Running hotter and losing pressure in one section — a part is wearing out.”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52463" y="5998464"/>
            <a:ext cx="496199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1">
                <a:solidFill>
                  <a:srgbClr val="5B6472"/>
                </a:solidFill>
                <a:latin typeface="Calibri"/>
              </a:rPr>
              <a:t>Example answer — illustrative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21207" y="6510528"/>
            <a:ext cx="11149280" cy="0"/>
          </a:xfrm>
          <a:prstGeom prst="line">
            <a:avLst/>
          </a:prstGeom>
          <a:ln w="9525">
            <a:solidFill>
              <a:srgbClr val="232A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21207" y="656539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 spc="80">
                <a:solidFill>
                  <a:srgbClr val="5B6472"/>
                </a:solidFill>
                <a:latin typeface="Calibri"/>
              </a:rPr>
              <a:t>AEROGUARD TSLM  ·  TEAM TIMELAPSE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2887" y="656539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 spc="80">
                <a:solidFill>
                  <a:srgbClr val="8B95A3"/>
                </a:solidFill>
                <a:latin typeface="Calibri"/>
              </a:rPr>
              <a:t>02 / 04 — 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"/>
            <a:ext cx="12191695" cy="6858000"/>
          </a:xfrm>
          <a:prstGeom prst="rect">
            <a:avLst/>
          </a:prstGeom>
          <a:solidFill>
            <a:srgbClr val="0A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21207" y="562356"/>
            <a:ext cx="82296" cy="8229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512064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120">
                <a:solidFill>
                  <a:srgbClr val="8B95A3"/>
                </a:solidFill>
                <a:latin typeface="Calibri"/>
              </a:rPr>
              <a:t>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41248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 dirty="0">
                <a:solidFill>
                  <a:srgbClr val="22D3EE"/>
                </a:solidFill>
                <a:latin typeface="Arial"/>
              </a:rPr>
              <a:t>51.1 RMSE</a:t>
            </a:r>
            <a:r>
              <a:rPr sz="2600" b="1" i="0" dirty="0">
                <a:solidFill>
                  <a:srgbClr val="EAF0F6"/>
                </a:solidFill>
                <a:latin typeface="Arial"/>
              </a:rPr>
              <a:t> on held-out engines — 85% lower NASA Score than the Chronos foundation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" y="1965960"/>
            <a:ext cx="3182112" cy="384048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000" b="1" i="0" spc="60">
                <a:solidFill>
                  <a:srgbClr val="5B6472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22776" y="1965960"/>
            <a:ext cx="1627631" cy="384048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000" b="1" i="0" spc="60">
                <a:solidFill>
                  <a:srgbClr val="5B6472"/>
                </a:solidFill>
                <a:latin typeface="Calibri"/>
              </a:rPr>
              <a:t>RUL RMSE↓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0136" y="1965960"/>
            <a:ext cx="1627631" cy="384048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000" b="1" i="0" spc="60">
                <a:solidFill>
                  <a:srgbClr val="5B6472"/>
                </a:solidFill>
                <a:latin typeface="Calibri"/>
              </a:rPr>
              <a:t>RUL MAE↓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7496" y="1965960"/>
            <a:ext cx="1810512" cy="384048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000" b="1" i="0" spc="60">
                <a:solidFill>
                  <a:srgbClr val="5B6472"/>
                </a:solidFill>
                <a:latin typeface="Calibri"/>
              </a:rPr>
              <a:t>NASA Score↓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17736" y="1965960"/>
            <a:ext cx="2359152" cy="384048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000" b="1" i="0" spc="60">
                <a:solidFill>
                  <a:srgbClr val="5B6472"/>
                </a:solidFill>
                <a:latin typeface="Calibri"/>
              </a:rPr>
              <a:t>Coverage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21207" y="2404872"/>
            <a:ext cx="11155681" cy="0"/>
          </a:xfrm>
          <a:prstGeom prst="line">
            <a:avLst/>
          </a:prstGeom>
          <a:ln w="12700">
            <a:solidFill>
              <a:srgbClr val="232A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21207" y="2441448"/>
            <a:ext cx="11155680" cy="457200"/>
          </a:xfrm>
          <a:prstGeom prst="rect">
            <a:avLst/>
          </a:prstGeom>
          <a:solidFill>
            <a:srgbClr val="13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21207" y="2441448"/>
            <a:ext cx="41148" cy="4572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2375" y="2441448"/>
            <a:ext cx="318211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EAF0F6"/>
                </a:solidFill>
                <a:latin typeface="Calibri"/>
              </a:rPr>
              <a:t>AeroGuard TSLM (ours)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22776" y="2441448"/>
            <a:ext cx="162763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22D3EE"/>
                </a:solidFill>
                <a:latin typeface="Consolas"/>
              </a:rPr>
              <a:t>51.11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0136" y="2441448"/>
            <a:ext cx="162763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22D3EE"/>
                </a:solidFill>
                <a:latin typeface="Consolas"/>
              </a:rPr>
              <a:t>39.81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97496" y="2441448"/>
            <a:ext cx="181051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22D3EE"/>
                </a:solidFill>
                <a:latin typeface="Consolas"/>
              </a:rPr>
              <a:t>2.62M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17736" y="2441448"/>
            <a:ext cx="23591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22D3EE"/>
                </a:solidFill>
                <a:latin typeface="Consolas"/>
              </a:rPr>
              <a:t>100% (806/806)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21207" y="2898648"/>
            <a:ext cx="11155681" cy="0"/>
          </a:xfrm>
          <a:prstGeom prst="line">
            <a:avLst/>
          </a:prstGeom>
          <a:ln w="9525">
            <a:solidFill>
              <a:srgbClr val="232A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0936" y="2898648"/>
            <a:ext cx="318211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8B95A3"/>
                </a:solidFill>
                <a:latin typeface="Calibri"/>
              </a:rPr>
              <a:t>Chronos + Ridge (foundation model)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22776" y="2898648"/>
            <a:ext cx="162763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8B95A3"/>
                </a:solidFill>
                <a:latin typeface="Consolas"/>
              </a:rPr>
              <a:t>53.93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0136" y="2898648"/>
            <a:ext cx="162763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8B95A3"/>
                </a:solidFill>
                <a:latin typeface="Consolas"/>
              </a:rPr>
              <a:t>40.12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7496" y="2898648"/>
            <a:ext cx="181051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8B95A3"/>
                </a:solidFill>
                <a:latin typeface="Consolas"/>
              </a:rPr>
              <a:t>17.22M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6" y="2898648"/>
            <a:ext cx="23591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8B95A3"/>
                </a:solidFill>
                <a:latin typeface="Consolas"/>
              </a:rPr>
              <a:t>100% (806/806)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21207" y="3355848"/>
            <a:ext cx="11155681" cy="0"/>
          </a:xfrm>
          <a:prstGeom prst="line">
            <a:avLst/>
          </a:prstGeom>
          <a:ln w="9525">
            <a:solidFill>
              <a:srgbClr val="232A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30936" y="3355848"/>
            <a:ext cx="318211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8B95A3"/>
                </a:solidFill>
                <a:latin typeface="Calibri"/>
              </a:rPr>
              <a:t>Training mean (naive baseline)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22776" y="3355848"/>
            <a:ext cx="162763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8B95A3"/>
                </a:solidFill>
                <a:latin typeface="Consolas"/>
              </a:rPr>
              <a:t>73.43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0136" y="3355848"/>
            <a:ext cx="162763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8B95A3"/>
                </a:solidFill>
                <a:latin typeface="Consolas"/>
              </a:rPr>
              <a:t>59.09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97496" y="3355848"/>
            <a:ext cx="181051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8B95A3"/>
                </a:solidFill>
                <a:latin typeface="Consolas"/>
              </a:rPr>
              <a:t>129.27M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17736" y="3355848"/>
            <a:ext cx="23591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8B95A3"/>
                </a:solidFill>
                <a:latin typeface="Consolas"/>
              </a:rPr>
              <a:t>100% (806/806)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21207" y="3813048"/>
            <a:ext cx="11155681" cy="0"/>
          </a:xfrm>
          <a:prstGeom prst="line">
            <a:avLst/>
          </a:prstGeom>
          <a:ln w="9525">
            <a:solidFill>
              <a:srgbClr val="232A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30936" y="3813048"/>
            <a:ext cx="318211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8B95A3"/>
                </a:solidFill>
                <a:latin typeface="Calibri"/>
              </a:rPr>
              <a:t>Text-only LM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22776" y="3813048"/>
            <a:ext cx="162763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8B95A3"/>
                </a:solidFill>
                <a:latin typeface="Consolas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0136" y="3813048"/>
            <a:ext cx="162763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8B95A3"/>
                </a:solidFill>
                <a:latin typeface="Consolas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97496" y="3813048"/>
            <a:ext cx="181051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8B95A3"/>
                </a:solidFill>
                <a:latin typeface="Consolas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17736" y="3813048"/>
            <a:ext cx="23591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FB923C"/>
                </a:solidFill>
                <a:latin typeface="Consolas"/>
              </a:rPr>
              <a:t>0% — every response invalid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21207" y="4270248"/>
            <a:ext cx="11155681" cy="0"/>
          </a:xfrm>
          <a:prstGeom prst="line">
            <a:avLst/>
          </a:prstGeom>
          <a:ln w="9525">
            <a:solidFill>
              <a:srgbClr val="232A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521207" y="4526280"/>
            <a:ext cx="5066626" cy="1874519"/>
          </a:xfrm>
          <a:prstGeom prst="roundRect">
            <a:avLst>
              <a:gd name="adj" fmla="val 6000"/>
            </a:avLst>
          </a:prstGeom>
          <a:solidFill>
            <a:srgbClr val="10141B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58952" y="4709160"/>
            <a:ext cx="460942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80">
                <a:solidFill>
                  <a:srgbClr val="5B6472"/>
                </a:solidFill>
                <a:latin typeface="Calibri"/>
              </a:rPr>
              <a:t>LIVE DEMO — MISSION CONTROL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" y="5074920"/>
            <a:ext cx="4609426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0" i="0">
                <a:solidFill>
                  <a:srgbClr val="5B6472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EAF0F6"/>
                </a:solidFill>
                <a:latin typeface="Calibri"/>
              </a:rPr>
              <a:t>Interactive Plotly telemetry + digital-twin station cross-section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0" i="0">
                <a:solidFill>
                  <a:srgbClr val="5B6472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EAF0F6"/>
                </a:solidFill>
                <a:latin typeface="Calibri"/>
              </a:rPr>
              <a:t>Streaming Chain-of-Thought diagnostics as they generate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0" i="0">
                <a:solidFill>
                  <a:srgbClr val="5B6472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EAF0F6"/>
                </a:solidFill>
                <a:latin typeface="Calibri"/>
              </a:rPr>
              <a:t>ETOPS flight-route dispatch clearance recommendation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843866" y="4526280"/>
            <a:ext cx="5826620" cy="1874519"/>
          </a:xfrm>
          <a:prstGeom prst="roundRect">
            <a:avLst>
              <a:gd name="adj" fmla="val 6000"/>
            </a:avLst>
          </a:prstGeom>
          <a:solidFill>
            <a:srgbClr val="10141B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081610" y="4709160"/>
            <a:ext cx="53694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60">
                <a:solidFill>
                  <a:srgbClr val="5B6472"/>
                </a:solidFill>
                <a:latin typeface="Calibri"/>
              </a:rPr>
              <a:t>SAMPLE CoT OUTPUT (ILLUSTRATIVE) — UNIT #84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81610" y="5001768"/>
            <a:ext cx="5351132" cy="1161287"/>
          </a:xfrm>
          <a:prstGeom prst="rect">
            <a:avLst/>
          </a:prstGeom>
          <a:solidFill>
            <a:srgbClr val="0B1014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195640" y="5025432"/>
            <a:ext cx="5369420" cy="109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950" b="1" i="0" dirty="0">
                <a:solidFill>
                  <a:srgbClr val="FB923C"/>
                </a:solidFill>
                <a:latin typeface="Consolas"/>
              </a:rPr>
              <a:t>Observation: </a:t>
            </a:r>
            <a:r>
              <a:rPr sz="950" b="0" i="0" dirty="0">
                <a:solidFill>
                  <a:srgbClr val="B7E4EE"/>
                </a:solidFill>
                <a:latin typeface="Consolas"/>
              </a:rPr>
              <a:t>Ps30 falling, T50 surging → coupled HPC efficiency loss.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950" b="1" i="0" dirty="0">
                <a:solidFill>
                  <a:srgbClr val="FB923C"/>
                </a:solidFill>
                <a:latin typeface="Consolas"/>
              </a:rPr>
              <a:t>Reasoning: </a:t>
            </a:r>
            <a:r>
              <a:rPr sz="950" b="0" i="0" dirty="0">
                <a:solidFill>
                  <a:srgbClr val="B7E4EE"/>
                </a:solidFill>
                <a:latin typeface="Consolas"/>
              </a:rPr>
              <a:t>consistent with HPC blade erosion.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950" b="1" i="0" dirty="0">
                <a:solidFill>
                  <a:srgbClr val="FB923C"/>
                </a:solidFill>
                <a:latin typeface="Consolas"/>
              </a:rPr>
              <a:t>RUL: </a:t>
            </a:r>
            <a:r>
              <a:rPr sz="950" b="0" i="0" dirty="0">
                <a:solidFill>
                  <a:srgbClr val="B7E4EE"/>
                </a:solidFill>
                <a:latin typeface="Consolas"/>
              </a:rPr>
              <a:t>~42 cycles remaining.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950" b="1" i="0" dirty="0">
                <a:solidFill>
                  <a:srgbClr val="FB923C"/>
                </a:solidFill>
                <a:latin typeface="Consolas"/>
              </a:rPr>
              <a:t>Action: </a:t>
            </a:r>
            <a:r>
              <a:rPr sz="950" b="0" i="0" dirty="0">
                <a:solidFill>
                  <a:srgbClr val="B7E4EE"/>
                </a:solidFill>
                <a:latin typeface="Consolas"/>
              </a:rPr>
              <a:t>inspect Station 30 HPC Rotor Blades (CFM56-HPC-RB25),Task Card AMM 72-31-00.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21207" y="6510528"/>
            <a:ext cx="11149280" cy="0"/>
          </a:xfrm>
          <a:prstGeom prst="line">
            <a:avLst/>
          </a:prstGeom>
          <a:ln w="9525">
            <a:solidFill>
              <a:srgbClr val="232A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21207" y="656539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 spc="80">
                <a:solidFill>
                  <a:srgbClr val="5B6472"/>
                </a:solidFill>
                <a:latin typeface="Calibri"/>
              </a:rPr>
              <a:t>AEROGUARD TSLM  ·  TEAM TIMELAPSE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12887" y="656539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 spc="80">
                <a:solidFill>
                  <a:srgbClr val="8B95A3"/>
                </a:solidFill>
                <a:latin typeface="Calibri"/>
              </a:rPr>
              <a:t>03 / 04 — PROOF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21207" y="562356"/>
            <a:ext cx="82296" cy="8229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512064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120">
                <a:solidFill>
                  <a:srgbClr val="8B95A3"/>
                </a:solidFill>
                <a:latin typeface="Calibri"/>
              </a:rPr>
              <a:t>  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4124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EAF0F6"/>
                </a:solidFill>
                <a:latin typeface="Arial"/>
              </a:rPr>
              <a:t>What we'd build with more runway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7" y="1691640"/>
            <a:ext cx="5437479" cy="2606040"/>
          </a:xfrm>
          <a:prstGeom prst="roundRect">
            <a:avLst>
              <a:gd name="adj" fmla="val 6000"/>
            </a:avLst>
          </a:prstGeom>
          <a:solidFill>
            <a:srgbClr val="10141B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7" y="1911095"/>
            <a:ext cx="4888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80">
                <a:solidFill>
                  <a:srgbClr val="22D3EE"/>
                </a:solidFill>
                <a:latin typeface="Calibri"/>
              </a:rPr>
              <a:t>WHAT WORKED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" y="2286000"/>
            <a:ext cx="4888839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00" b="0" i="0">
                <a:solidFill>
                  <a:srgbClr val="5B6472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EAF0F6"/>
                </a:solidFill>
                <a:latin typeface="Calibri"/>
              </a:rPr>
              <a:t>Coupling beats univariate tokens</a:t>
            </a:r>
            <a:r>
              <a:rPr sz="1300" b="0" i="0">
                <a:solidFill>
                  <a:srgbClr val="EAF0F6"/>
                </a:solidFill>
                <a:latin typeface="Calibri"/>
              </a:rPr>
              <a:t> — reading Ps30 and T50 jointly, not separately, is what catches HPC drift.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00" b="0" i="0">
                <a:solidFill>
                  <a:srgbClr val="5B6472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EAF0F6"/>
                </a:solidFill>
                <a:latin typeface="Calibri"/>
              </a:rPr>
              <a:t>Prefix fusion avoids tabular blindness</a:t>
            </a:r>
            <a:r>
              <a:rPr sz="1300" b="0" i="0">
                <a:solidFill>
                  <a:srgbClr val="EAF0F6"/>
                </a:solidFill>
                <a:latin typeface="Calibri"/>
              </a:rPr>
              <a:t> — the failure mode that makes text-only LLMs hallucinate part numbers.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00" b="0" i="0">
                <a:solidFill>
                  <a:srgbClr val="5B6472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EAF0F6"/>
                </a:solidFill>
                <a:latin typeface="Calibri"/>
              </a:rPr>
              <a:t>A joint LM + RUL loss</a:t>
            </a:r>
            <a:r>
              <a:rPr sz="1300" b="0" i="0">
                <a:solidFill>
                  <a:srgbClr val="EAF0F6"/>
                </a:solidFill>
                <a:latin typeface="Calibri"/>
              </a:rPr>
              <a:t> keeps the diagnostic prose grounded in a real, checkable number.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691640"/>
            <a:ext cx="5437479" cy="2606040"/>
          </a:xfrm>
          <a:prstGeom prst="roundRect">
            <a:avLst>
              <a:gd name="adj" fmla="val 6000"/>
            </a:avLst>
          </a:prstGeom>
          <a:solidFill>
            <a:srgbClr val="10141B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07327" y="1911095"/>
            <a:ext cx="4888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80">
                <a:solidFill>
                  <a:srgbClr val="FB923C"/>
                </a:solidFill>
                <a:latin typeface="Calibri"/>
              </a:rPr>
              <a:t>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7327" y="2286000"/>
            <a:ext cx="4888839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00" b="0" i="0">
                <a:solidFill>
                  <a:srgbClr val="5B6472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EAF0F6"/>
                </a:solidFill>
                <a:latin typeface="Calibri"/>
              </a:rPr>
              <a:t>Single operating regime</a:t>
            </a:r>
            <a:r>
              <a:rPr sz="1300" b="0" i="0">
                <a:solidFill>
                  <a:srgbClr val="EAF0F6"/>
                </a:solidFill>
                <a:latin typeface="Calibri"/>
              </a:rPr>
              <a:t> — trained and evaluated on FD001 only, not yet FD002–004 or N-CMAPSS.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00" b="0" i="0">
                <a:solidFill>
                  <a:srgbClr val="5B6472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EAF0F6"/>
                </a:solidFill>
                <a:latin typeface="Calibri"/>
              </a:rPr>
              <a:t>135M-parameter backbone</a:t>
            </a:r>
            <a:r>
              <a:rPr sz="1300" b="0" i="0">
                <a:solidFill>
                  <a:srgbClr val="EAF0F6"/>
                </a:solidFill>
                <a:latin typeface="Calibri"/>
              </a:rPr>
              <a:t> — sized for the hackathon's compute budget, not scaled up.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00" b="0" i="0">
                <a:solidFill>
                  <a:srgbClr val="5B6472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EAF0F6"/>
                </a:solidFill>
                <a:latin typeface="Calibri"/>
              </a:rPr>
              <a:t>Dataset sourcing is template-driven</a:t>
            </a:r>
            <a:r>
              <a:rPr sz="1300" b="0" i="0">
                <a:solidFill>
                  <a:srgbClr val="EAF0F6"/>
                </a:solidFill>
                <a:latin typeface="Calibri"/>
              </a:rPr>
              <a:t> — not yet a fully autonomous agentic discovery pipeline.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449884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80">
                <a:solidFill>
                  <a:srgbClr val="5B6472"/>
                </a:solidFill>
                <a:latin typeface="Calibri"/>
              </a:rPr>
              <a:t>NEXT STEPS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7" y="4809744"/>
            <a:ext cx="2581579" cy="896112"/>
          </a:xfrm>
          <a:prstGeom prst="roundRect">
            <a:avLst>
              <a:gd name="adj" fmla="val 6000"/>
            </a:avLst>
          </a:prstGeom>
          <a:solidFill>
            <a:srgbClr val="141A22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4088" y="4937759"/>
            <a:ext cx="22158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AF0F6"/>
                </a:solidFill>
                <a:latin typeface="Arial"/>
              </a:rPr>
              <a:t>Multi-regime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5230368"/>
            <a:ext cx="22158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B95A3"/>
                </a:solidFill>
                <a:latin typeface="Calibri"/>
              </a:rPr>
              <a:t>Extend to FD002–004 and N-CMAPSS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77107" y="4809744"/>
            <a:ext cx="2581579" cy="896112"/>
          </a:xfrm>
          <a:prstGeom prst="roundRect">
            <a:avLst>
              <a:gd name="adj" fmla="val 6000"/>
            </a:avLst>
          </a:prstGeom>
          <a:solidFill>
            <a:srgbClr val="141A22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59987" y="4937759"/>
            <a:ext cx="22158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AF0F6"/>
                </a:solidFill>
                <a:latin typeface="Arial"/>
              </a:rPr>
              <a:t>Agentic sourcing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9987" y="5230368"/>
            <a:ext cx="22158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B95A3"/>
                </a:solidFill>
                <a:latin typeface="Calibri"/>
              </a:rPr>
              <a:t>Autonomous dataset discovery &amp; validation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809744"/>
            <a:ext cx="2581579" cy="896112"/>
          </a:xfrm>
          <a:prstGeom prst="roundRect">
            <a:avLst>
              <a:gd name="adj" fmla="val 6000"/>
            </a:avLst>
          </a:prstGeom>
          <a:solidFill>
            <a:srgbClr val="141A22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15887" y="4937759"/>
            <a:ext cx="22158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AF0F6"/>
                </a:solidFill>
                <a:latin typeface="Arial"/>
              </a:rPr>
              <a:t>Scale the backbone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5887" y="5230368"/>
            <a:ext cx="22158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B95A3"/>
                </a:solidFill>
                <a:latin typeface="Calibri"/>
              </a:rPr>
              <a:t>Larger LM + higher LoRA rank for richer CoT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88907" y="4809744"/>
            <a:ext cx="2581579" cy="896112"/>
          </a:xfrm>
          <a:prstGeom prst="roundRect">
            <a:avLst>
              <a:gd name="adj" fmla="val 6000"/>
            </a:avLst>
          </a:prstGeom>
          <a:solidFill>
            <a:srgbClr val="141A22"/>
          </a:solidFill>
          <a:ln w="9525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71787" y="4937759"/>
            <a:ext cx="22158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AF0F6"/>
                </a:solidFill>
                <a:latin typeface="Arial"/>
              </a:rPr>
              <a:t>Fleet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71787" y="5230368"/>
            <a:ext cx="22158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B95A3"/>
                </a:solidFill>
                <a:latin typeface="Calibri"/>
              </a:rPr>
              <a:t>Wire ETOPS dispatch guidance into MRO ops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21207" y="5870448"/>
            <a:ext cx="11149280" cy="0"/>
          </a:xfrm>
          <a:prstGeom prst="line">
            <a:avLst/>
          </a:prstGeom>
          <a:ln w="12700">
            <a:solidFill>
              <a:srgbClr val="232A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21207" y="5961888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EAF0F6"/>
                </a:solidFill>
                <a:latin typeface="Calibri"/>
              </a:rPr>
              <a:t>Team TimeLapse</a:t>
            </a:r>
            <a:r>
              <a:rPr sz="1200" b="0" i="0">
                <a:solidFill>
                  <a:srgbClr val="8B95A3"/>
                </a:solidFill>
                <a:latin typeface="Calibri"/>
              </a:rPr>
              <a:t>  —  Ashwani Kumar · Siddhant Tilekar · Vid Tominec · Marlene Moerig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21207" y="6510528"/>
            <a:ext cx="11149280" cy="0"/>
          </a:xfrm>
          <a:prstGeom prst="line">
            <a:avLst/>
          </a:prstGeom>
          <a:ln w="9525">
            <a:solidFill>
              <a:srgbClr val="232A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21207" y="656539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 spc="80">
                <a:solidFill>
                  <a:srgbClr val="5B6472"/>
                </a:solidFill>
                <a:latin typeface="Calibri"/>
              </a:rPr>
              <a:t>AEROGUARD TSLM  ·  TEAM TIMELAPSE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2887" y="656539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 spc="80">
                <a:solidFill>
                  <a:srgbClr val="8B95A3"/>
                </a:solidFill>
                <a:latin typeface="Calibri"/>
              </a:rPr>
              <a:t>04 / 04 — LEARNINGS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630</Words>
  <Application>Microsoft Macintosh PowerPoint</Application>
  <PresentationFormat>Widescreen</PresentationFormat>
  <Paragraphs>97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Kumar  Ashwani</cp:lastModifiedBy>
  <cp:revision>3</cp:revision>
  <dcterms:created xsi:type="dcterms:W3CDTF">2013-01-27T09:14:16Z</dcterms:created>
  <dcterms:modified xsi:type="dcterms:W3CDTF">2026-09-13T09:50:03Z</dcterms:modified>
  <cp:category/>
</cp:coreProperties>
</file>